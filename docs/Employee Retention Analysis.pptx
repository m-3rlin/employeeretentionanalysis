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Playfair Display"/>
      <p:regular r:id="rId9"/>
      <p:bold r:id="rId10"/>
      <p:italic r:id="rId11"/>
      <p:boldItalic r:id="rId12"/>
    </p:embeddedFon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font" Target="fonts/PlayfairDisplay-italic.fntdata"/><Relationship Id="rId10" Type="http://schemas.openxmlformats.org/officeDocument/2006/relationships/font" Target="fonts/PlayfairDisplay-bold.fntdata"/><Relationship Id="rId13" Type="http://schemas.openxmlformats.org/officeDocument/2006/relationships/font" Target="fonts/Montserrat-regular.fntdata"/><Relationship Id="rId12" Type="http://schemas.openxmlformats.org/officeDocument/2006/relationships/font" Target="fonts/PlayfairDispl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layfairDisplay-regular.fntdata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8fadbe46f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8fadbe46f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986e1c5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986e1c5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887625" y="1858450"/>
            <a:ext cx="46926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latin typeface="Playfair Display"/>
                <a:ea typeface="Playfair Display"/>
                <a:cs typeface="Playfair Display"/>
                <a:sym typeface="Playfair Display"/>
              </a:rPr>
              <a:t>Employee Retention Intelligence System</a:t>
            </a:r>
            <a:endParaRPr b="1" sz="3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661825" y="3573425"/>
            <a:ext cx="46575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Playfair Display"/>
                <a:ea typeface="Playfair Display"/>
                <a:cs typeface="Playfair Display"/>
                <a:sym typeface="Playfair Display"/>
              </a:rPr>
              <a:t>Reducing Attrition through Predictive Modelling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230425" y="4485850"/>
            <a:ext cx="343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Presented by: Abdul Rumman | January 2026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5966150" y="148925"/>
            <a:ext cx="30000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 u="sng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Solution:</a:t>
            </a:r>
            <a:endParaRPr b="1" sz="1300" u="sng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</a:t>
            </a:r>
            <a:r>
              <a:rPr lang="en-GB" sz="1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Machine Learning tool to identify "At-Risk" employees before they leave.</a:t>
            </a:r>
            <a:endParaRPr sz="11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</a:t>
            </a:r>
            <a:r>
              <a:rPr lang="en-GB" sz="1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KPI: Reduce unexpected attrition and save replacement costs.</a:t>
            </a:r>
            <a:endParaRPr sz="11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2966150" y="148913"/>
            <a:ext cx="3000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 u="sng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Business Problem:</a:t>
            </a:r>
            <a:endParaRPr b="1" sz="1300" u="sng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</a:t>
            </a:r>
            <a:r>
              <a:rPr lang="en-GB" sz="1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High employee turnover increases recruitment costs and disrupts productivity.</a:t>
            </a:r>
            <a:endParaRPr sz="11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</a:t>
            </a:r>
            <a:r>
              <a:rPr lang="en-GB" sz="1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Current HR methods are reactive, not proactive.</a:t>
            </a:r>
            <a:endParaRPr sz="11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title"/>
          </p:nvPr>
        </p:nvSpPr>
        <p:spPr>
          <a:xfrm>
            <a:off x="1297500" y="393750"/>
            <a:ext cx="39864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Playfair Display"/>
                <a:ea typeface="Playfair Display"/>
                <a:cs typeface="Playfair Display"/>
                <a:sym typeface="Playfair Display"/>
              </a:rPr>
              <a:t>The High Cost of Reactive HR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GB" sz="1700">
                <a:latin typeface="Playfair Display"/>
                <a:ea typeface="Playfair Display"/>
                <a:cs typeface="Playfair Display"/>
                <a:sym typeface="Playfair Display"/>
              </a:rPr>
              <a:t>The Financial Blow: According to Gallup (2019), replacing an employee costs 50% to 200% of their annual salary, depending on role complexity.</a:t>
            </a:r>
            <a:endParaRPr sz="17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GB" sz="1700">
                <a:latin typeface="Playfair Display"/>
                <a:ea typeface="Playfair Display"/>
                <a:cs typeface="Playfair Display"/>
                <a:sym typeface="Playfair Display"/>
              </a:rPr>
              <a:t>The Blind Spot: Traditional HR relies on Exit Interviews (Reactive). By the time you know something is wrong, the employee is already gone.</a:t>
            </a:r>
            <a:endParaRPr sz="17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GB" sz="1700">
                <a:latin typeface="Playfair Display"/>
                <a:ea typeface="Playfair Display"/>
                <a:cs typeface="Playfair Display"/>
                <a:sym typeface="Playfair Display"/>
              </a:rPr>
              <a:t>The Goal: Shift from "Damage Control" to "Early Warning" by identifying flight risk before the resignation letter lands.</a:t>
            </a:r>
            <a:endParaRPr sz="17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1297500" y="851550"/>
            <a:ext cx="46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we need to predict attrition, not just measure it.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5211550" y="43075"/>
            <a:ext cx="38649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Playfair Display"/>
                <a:ea typeface="Playfair Display"/>
                <a:cs typeface="Playfair Display"/>
                <a:sym typeface="Playfair Display"/>
              </a:rPr>
              <a:t>The Dashboard &amp; The Engine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89550" y="2245550"/>
            <a:ext cx="4757700" cy="26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25">
                <a:latin typeface="Playfair Display"/>
                <a:ea typeface="Playfair Display"/>
                <a:cs typeface="Playfair Display"/>
                <a:sym typeface="Playfair Display"/>
              </a:rPr>
              <a:t>- </a:t>
            </a:r>
            <a:r>
              <a:rPr lang="en-GB" sz="1625">
                <a:latin typeface="Playfair Display"/>
                <a:ea typeface="Playfair Display"/>
                <a:cs typeface="Playfair Display"/>
                <a:sym typeface="Playfair Display"/>
              </a:rPr>
              <a:t>The Tool: A live "Retention Calculator" that translates 7 user inputs into a retention probability (shown: 64% Risk).</a:t>
            </a:r>
            <a:endParaRPr sz="1625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25">
                <a:latin typeface="Playfair Display"/>
                <a:ea typeface="Playfair Display"/>
                <a:cs typeface="Playfair Display"/>
                <a:sym typeface="Playfair Display"/>
              </a:rPr>
              <a:t>- The Engine: Powered by the Correlation Drivers (Right Bottom) and trained on the Imbalanced Distribution (Right Top) to detect rare attrition events.</a:t>
            </a:r>
            <a:endParaRPr sz="1625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25">
                <a:latin typeface="Playfair Display"/>
                <a:ea typeface="Playfair Display"/>
                <a:cs typeface="Playfair Display"/>
                <a:sym typeface="Playfair Display"/>
              </a:rPr>
              <a:t>- The Logic: Uses "Ghost Column" re-indexing to map simple user inputs to complex training data patterns dynamically.</a:t>
            </a:r>
            <a:endParaRPr sz="1625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52" name="Google Shape;152;p15" title="Correlation_Driv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988" y="2914731"/>
            <a:ext cx="3864876" cy="208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 title="Target_Distribu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6715" y="623525"/>
            <a:ext cx="3309160" cy="214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 title="final dashboar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50" y="89825"/>
            <a:ext cx="5122001" cy="2144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